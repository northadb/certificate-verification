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6" r:id="rId4"/>
    <p:sldId id="295" r:id="rId5"/>
    <p:sldId id="296" r:id="rId6"/>
    <p:sldId id="297" r:id="rId7"/>
    <p:sldId id="298" r:id="rId8"/>
    <p:sldId id="302" r:id="rId9"/>
    <p:sldId id="299" r:id="rId10"/>
    <p:sldId id="300" r:id="rId11"/>
    <p:sldId id="301" r:id="rId12"/>
    <p:sldId id="303" r:id="rId13"/>
    <p:sldId id="304" r:id="rId14"/>
    <p:sldId id="305" r:id="rId15"/>
    <p:sldId id="306" r:id="rId16"/>
    <p:sldId id="307" r:id="rId17"/>
    <p:sldId id="308" r:id="rId18"/>
    <p:sldId id="294" r:id="rId19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52"/>
    <p:restoredTop sz="86433"/>
  </p:normalViewPr>
  <p:slideViewPr>
    <p:cSldViewPr showGuides="1">
      <p:cViewPr varScale="1">
        <p:scale>
          <a:sx n="81" d="100"/>
          <a:sy n="81" d="100"/>
        </p:scale>
        <p:origin x="-744" y="-96"/>
      </p:cViewPr>
      <p:guideLst>
        <p:guide orient="horz" pos="2160"/>
        <p:guide pos="28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cm"/>
          <inkml:channelProperty channel="Y" name="resolution" value="28.3464566929134" units="cm"/>
        </inkml:channelProperties>
      </inkml:inkSource>
      <inkml:timestamp xml:id="ts0" timeString="2021-06-07T22:54:2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547 326,'-1'0,"0"0,-1 0,-1 0,0 0,1 0,-1 0,3 0,-2 0,0 0,1 0,0 0,0 0,0 0,1 0,-1 1,1-1,0 1,-1 0,1-1,0 1,0-1,0 1,-1-1,1 1,0 0,0 0,0-1,0 1,0-1,0 1,-1 0,1 0,0-1,0 1,-1 0,1 0,0 0,-1 1,1-1,-1 0,1 0,0 0,0 1,-1-1,1 0,0 0,0 0,0-1,0 1,0 0,0 0,0 0,0 0,0-1,0 1,0 0,0-1,0 1,0 0,1 0,-1-1,1 1,-1 0,1 0,0 0,-1 1,1-1,0 0,-1 0,1-1,-1 1,1 0,0 0,-1 0,1 0,-1-1,1 1,0-1,-1 0,0 0,1 1,-1-1,1 0,0 0,-1 0,1 0,0 0,-1 0,1 0,-1 1,1-1,0 0,-1 0,0 0,1 0,0 0,-1 0,0 0,1 0,-1 0,0 0,1 0,0 0,-1 0,0 0,1 0,0 0,-1 0,0-1,1 1,0-1,-1 1,0-1,1 1,-1-1,1 1,-1-1,1 1,-1 0,0-1,1 1,-1 0,0-1,1 1,-1 0,0 0,0 0,0-1,0 1,0 0,0 0,1 0,-1-1,-1 1,1 0,-1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cm"/>
          <inkml:channelProperty channel="Y" name="resolution" value="28.3464566929134" units="cm"/>
        </inkml:channelProperties>
      </inkml:inkSource>
      <inkml:timestamp xml:id="ts0" timeString="2021-06-07T22:54:2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581 320,'0'1,"0"-1,0 0,0 1,0-1,0 0,0 0,0 1,0 0,0 0,0-1,0 1,0 1,0 0,0 0,-1-1,0 3,1-3,-1 2,0-1,0 0,1 0,-1 1,0-2,1 1,-1-1,1 1,-1-1,1 0,0 1,-1-1,1 0,0 0,-1 0,1-1,0 2,0-2,-1 1,1-1,0 1,0-1,0 1,0 0,0-1,0 0,-1 1,1-1,0 1,0-1,0 0,0 0,0 1,0-1,0 0,0 0,0 1,0-1,0 0,0 0,0 1,0-1,0 0,0 1,0-1,0 0,0 0,0 1,0-1,0 0,0 0,0 1,-1-1,1 0,0 0,-1 0,0-2,1 1,-1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cm"/>
          <inkml:channelProperty channel="Y" name="resolution" value="28.3464566929134" units="cm"/>
        </inkml:channelProperties>
      </inkml:inkSource>
      <inkml:timestamp xml:id="ts0" timeString="2021-06-07T22:54:2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585 320,'2'0,"-4"0,2 1,0 1,0-1,0 1,0-1,0 1,0 0,1 1,0-1,0 1,-1 0,1-2,0 5,0-5,0 2,-1-1,1 1,0-1,0 0,-1 0,1-1,-1 0,0 0,1 0,-1 0,0 0,1-1,-1 1,0 0,1-1,-1 1,0 0,1-1,-1 0,0 1,1-1,-1 0,0 1,0-1,0 0,0 1,0-1,0 0,1 1,-1-1,0 0,0 0,0 1,0-1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cm"/>
          <inkml:channelProperty channel="Y" name="resolution" value="28.3464566929134" units="cm"/>
        </inkml:channelProperties>
      </inkml:inkSource>
      <inkml:timestamp xml:id="ts0" timeString="2021-06-07T22:54:2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579 349,'2'0,"-4"0,3 0,-1 0,1 0,0 0,-1 0,1 0,-1 0,1 0,0 0,-1 0,1 0,-1 0,0 0,1 0,-1 0,0 0,1 0,-1 0,0 0,0 0,1 0,-1 0,0 0,0 0,0 0,1 0,-1 0,0 0,0 0,1 0,-1 0,0 0,0 1,1-1,-1 0,0 0,1 0,-1 0,1 0,-1 0,0 0,0 0,0 0,0 0,1 0,-1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90204" pitchFamily="34" charset="0"/>
              </a:rPr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90204" pitchFamily="34" charset="0"/>
              </a:rPr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90204" pitchFamily="34" charset="0"/>
              </a:rPr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90204" pitchFamily="34" charset="0"/>
              </a:rPr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90204" pitchFamily="34" charset="0"/>
              </a:rPr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90204" pitchFamily="34" charset="0"/>
              </a:rPr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90204" pitchFamily="34" charset="0"/>
              </a:rPr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90204" pitchFamily="34" charset="0"/>
              </a:rPr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90204" pitchFamily="34" charset="0"/>
              </a:rPr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90204" pitchFamily="34" charset="0"/>
              </a:rPr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90204" pitchFamily="34" charset="0"/>
              </a:rPr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 dirty="0">
              <a:latin typeface="Arial" panose="020B060402020209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 dirty="0">
                <a:latin typeface="Arial" panose="020B0604020202090204" pitchFamily="34" charset="0"/>
              </a:rPr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customXml" Target="../ink/ink4.xml"/><Relationship Id="rId8" Type="http://schemas.openxmlformats.org/officeDocument/2006/relationships/image" Target="../media/image9.png"/><Relationship Id="rId7" Type="http://schemas.openxmlformats.org/officeDocument/2006/relationships/customXml" Target="../ink/ink3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png"/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0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52" name="图片 2051" descr="a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351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0" name="标题 2049"/>
          <p:cNvSpPr>
            <a:spLocks noGrp="1"/>
          </p:cNvSpPr>
          <p:nvPr>
            <p:ph type="ctrTitle"/>
          </p:nvPr>
        </p:nvSpPr>
        <p:spPr>
          <a:xfrm>
            <a:off x="755650" y="2349500"/>
            <a:ext cx="7632700" cy="1470025"/>
          </a:xfrm>
        </p:spPr>
        <p:txBody>
          <a:bodyPr anchor="ctr"/>
          <a:p>
            <a:pPr defTabSz="914400">
              <a:buSzPct val="100000"/>
            </a:pPr>
            <a:r>
              <a:rPr lang="zh-CN" sz="4400" b="1" kern="1200" baseline="0" dirty="0">
                <a:latin typeface="Heiti SC Medium" panose="02000000000000000000" charset="-122"/>
                <a:ea typeface="Heiti SC Medium" panose="02000000000000000000" charset="-122"/>
              </a:rPr>
              <a:t>数字证书验证工具</a:t>
            </a:r>
            <a:endParaRPr lang="zh-CN" sz="4400" b="1" kern="1200" baseline="0" dirty="0">
              <a:latin typeface="Heiti SC Medium" panose="02000000000000000000" charset="-122"/>
              <a:ea typeface="Heiti SC Medium" panose="020000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43610" y="3968750"/>
            <a:ext cx="72567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endParaRPr lang="zh-CN" altLang="en-US" sz="2800"/>
          </a:p>
          <a:p>
            <a:pPr algn="ctr"/>
            <a:endParaRPr lang="zh-CN" altLang="en-US" sz="2800"/>
          </a:p>
          <a:p>
            <a:pPr algn="ctr"/>
            <a:r>
              <a:rPr lang="zh-CN" altLang="en-US" sz="2800"/>
              <a:t>介绍人：肖进</a:t>
            </a:r>
            <a:endParaRPr lang="zh-CN" altLang="en-US" sz="2800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6" name="图片 3075" descr="a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标题 3073"/>
          <p:cNvSpPr>
            <a:spLocks noGrp="1"/>
          </p:cNvSpPr>
          <p:nvPr>
            <p:ph type="title"/>
          </p:nvPr>
        </p:nvSpPr>
        <p:spPr>
          <a:xfrm>
            <a:off x="2859405" y="160655"/>
            <a:ext cx="6284595" cy="444500"/>
          </a:xfrm>
        </p:spPr>
        <p:txBody>
          <a:bodyPr anchor="ctr"/>
          <a:p>
            <a:pPr algn="r"/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075" name="文本占位符 3074"/>
          <p:cNvSpPr>
            <a:spLocks noGrp="1"/>
          </p:cNvSpPr>
          <p:nvPr>
            <p:ph type="body" idx="1"/>
          </p:nvPr>
        </p:nvSpPr>
        <p:spPr>
          <a:xfrm>
            <a:off x="457200" y="1598930"/>
            <a:ext cx="8229600" cy="5054600"/>
          </a:xfrm>
        </p:spPr>
        <p:txBody>
          <a:bodyPr/>
          <a:p>
            <a:pPr marL="0" indent="0">
              <a:buNone/>
            </a:pPr>
            <a:r>
              <a:rPr lang="zh-CN" sz="2000" dirty="0"/>
              <a:t>我们都知道，互联网是虚拟的，通过互联网我们无法正确获取对方真实身份。比如：</a:t>
            </a: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r>
              <a:rPr lang="zh-CN" sz="2000" dirty="0"/>
              <a:t>而通过数字证书可以明确对方身份：</a:t>
            </a: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r>
              <a:rPr lang="zh-CN" sz="2000" dirty="0"/>
              <a:t>数字证书提供了一种在互联网上验证通信实体身份的方式</a:t>
            </a:r>
            <a:endParaRPr lang="zh-CN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-317" y="891858"/>
            <a:ext cx="9128125" cy="7067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4000" kern="1200" cap="none" spc="0" normalizeH="0" baseline="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+mn-cs"/>
              </a:rPr>
              <a:t> 数字证书</a:t>
            </a:r>
            <a:endParaRPr kumimoji="0" lang="zh-CN" altLang="en-US" sz="4000" kern="1200" cap="none" spc="0" normalizeH="0" baseline="0" noProof="0" dirty="0">
              <a:solidFill>
                <a:schemeClr val="bg1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2306955"/>
            <a:ext cx="4903470" cy="14065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4568190"/>
            <a:ext cx="4904105" cy="13881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6" name="图片 3075" descr="a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标题 3073"/>
          <p:cNvSpPr>
            <a:spLocks noGrp="1"/>
          </p:cNvSpPr>
          <p:nvPr>
            <p:ph type="title"/>
          </p:nvPr>
        </p:nvSpPr>
        <p:spPr>
          <a:xfrm>
            <a:off x="2859405" y="160655"/>
            <a:ext cx="6284595" cy="444500"/>
          </a:xfrm>
        </p:spPr>
        <p:txBody>
          <a:bodyPr anchor="ctr"/>
          <a:p>
            <a:pPr algn="r"/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075" name="文本占位符 3074"/>
          <p:cNvSpPr>
            <a:spLocks noGrp="1"/>
          </p:cNvSpPr>
          <p:nvPr>
            <p:ph type="body" idx="1"/>
          </p:nvPr>
        </p:nvSpPr>
        <p:spPr>
          <a:xfrm>
            <a:off x="457200" y="1598930"/>
            <a:ext cx="8229600" cy="5259070"/>
          </a:xfrm>
        </p:spPr>
        <p:txBody>
          <a:bodyPr/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r>
              <a:rPr lang="zh-CN" sz="2000" dirty="0"/>
              <a:t>身份证是派出所颁发的，数字证书是</a:t>
            </a:r>
            <a:r>
              <a:rPr lang="en-US" altLang="zh-CN" sz="2000" dirty="0"/>
              <a:t>CA</a:t>
            </a:r>
            <a:r>
              <a:rPr lang="zh-CN" altLang="en-US" sz="2000" dirty="0"/>
              <a:t>颁发的。</a:t>
            </a:r>
            <a:endParaRPr lang="zh-CN" altLang="en-US" sz="2000" dirty="0"/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zh-CN" altLang="en-US" sz="2000" dirty="0"/>
              <a:t>CA是Certificate Authority的缩写，也叫“证书授权中心”。它是负责管理和签发证书的第三方机构，作用是检查证书持有者身份的合法性，并签发证书，以防证书被伪造或篡改。</a:t>
            </a:r>
            <a:endParaRPr lang="zh-CN" altLang="en-US" sz="2000" dirty="0"/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zh-CN" altLang="en-US" sz="2000" dirty="0"/>
              <a:t>所以，CA实际上是一个机构，负责“证件”印制核发。就像负责颁发身份证的公安局、负责发放行驶证、驾驶证的车管所。</a:t>
            </a:r>
            <a:endParaRPr lang="zh-CN" altLang="en-US" sz="2000" dirty="0"/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zh-CN" altLang="en-US" sz="2000" dirty="0"/>
              <a:t>CA是权威可信的第三方机构，是“发证机关”。数字证书是CA发的“证件”，用于证明身份，就像身份证和驾驶证。</a:t>
            </a:r>
            <a:endParaRPr lang="zh-CN" altLang="en-US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-317" y="891858"/>
            <a:ext cx="9128125" cy="7067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4000" kern="1200" cap="none" spc="0" normalizeH="0" baseline="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+mn-cs"/>
              </a:rPr>
              <a:t> 数字证书——</a:t>
            </a:r>
            <a:r>
              <a:rPr kumimoji="0" lang="en-US" altLang="zh-CN" sz="4000" kern="1200" cap="none" spc="0" normalizeH="0" baseline="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+mn-cs"/>
              </a:rPr>
              <a:t>CA</a:t>
            </a:r>
            <a:endParaRPr kumimoji="0" lang="en-US" altLang="zh-CN" sz="4000" kern="1200" cap="none" spc="0" normalizeH="0" baseline="0" noProof="0" dirty="0">
              <a:solidFill>
                <a:schemeClr val="bg1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pic>
        <p:nvPicPr>
          <p:cNvPr id="6" name="图片 5" descr="截屏2021-06-07 下午7.28.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98930"/>
            <a:ext cx="6414135" cy="134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6" name="图片 3075" descr="a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标题 3073"/>
          <p:cNvSpPr>
            <a:spLocks noGrp="1"/>
          </p:cNvSpPr>
          <p:nvPr>
            <p:ph type="title"/>
          </p:nvPr>
        </p:nvSpPr>
        <p:spPr>
          <a:xfrm>
            <a:off x="2859405" y="160655"/>
            <a:ext cx="6284595" cy="444500"/>
          </a:xfrm>
        </p:spPr>
        <p:txBody>
          <a:bodyPr anchor="ctr"/>
          <a:p>
            <a:pPr algn="r"/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075" name="文本占位符 3074"/>
          <p:cNvSpPr>
            <a:spLocks noGrp="1"/>
          </p:cNvSpPr>
          <p:nvPr>
            <p:ph type="body" idx="1"/>
          </p:nvPr>
        </p:nvSpPr>
        <p:spPr>
          <a:xfrm>
            <a:off x="457200" y="1598930"/>
            <a:ext cx="8229600" cy="5054600"/>
          </a:xfrm>
        </p:spPr>
        <p:txBody>
          <a:bodyPr/>
          <a:p>
            <a:pPr marL="0" indent="0">
              <a:buNone/>
            </a:pPr>
            <a:endParaRPr lang="zh-CN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-317" y="891858"/>
            <a:ext cx="9128125" cy="7067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4000" kern="1200" cap="none" spc="0" normalizeH="0" baseline="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+mn-cs"/>
              </a:rPr>
              <a:t> 数字证书——整个流程</a:t>
            </a:r>
            <a:endParaRPr kumimoji="0" lang="zh-CN" altLang="en-US" sz="4000" kern="1200" cap="none" spc="0" normalizeH="0" baseline="0" noProof="0" dirty="0">
              <a:solidFill>
                <a:schemeClr val="bg1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35" y="2256155"/>
            <a:ext cx="8076565" cy="37395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6" name="墨迹 5"/>
              <p14:cNvContentPartPr/>
              <p14:nvPr/>
            </p14:nvContentPartPr>
            <p14:xfrm>
              <a:off x="4425950" y="2794635"/>
              <a:ext cx="300355" cy="47117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4"/>
            </p:blipFill>
            <p:spPr>
              <a:xfrm>
                <a:off x="4425950" y="2794635"/>
                <a:ext cx="300355" cy="4711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7" name="墨迹 6"/>
              <p14:cNvContentPartPr/>
              <p14:nvPr/>
            </p14:nvContentPartPr>
            <p14:xfrm>
              <a:off x="4837430" y="2743200"/>
              <a:ext cx="146050" cy="49720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6"/>
            </p:blipFill>
            <p:spPr>
              <a:xfrm>
                <a:off x="4837430" y="2743200"/>
                <a:ext cx="146050" cy="497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8" name="墨迹 7"/>
              <p14:cNvContentPartPr/>
              <p14:nvPr/>
            </p14:nvContentPartPr>
            <p14:xfrm>
              <a:off x="5017770" y="2743200"/>
              <a:ext cx="146050" cy="5054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8"/>
            </p:blipFill>
            <p:spPr>
              <a:xfrm>
                <a:off x="5017770" y="2743200"/>
                <a:ext cx="146050" cy="505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9" name="墨迹 8"/>
              <p14:cNvContentPartPr/>
              <p14:nvPr/>
            </p14:nvContentPartPr>
            <p14:xfrm>
              <a:off x="4966335" y="2991485"/>
              <a:ext cx="137160" cy="1714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0"/>
            </p:blipFill>
            <p:spPr>
              <a:xfrm>
                <a:off x="4966335" y="2991485"/>
                <a:ext cx="137160" cy="1714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6" name="图片 3075" descr="a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标题 3073"/>
          <p:cNvSpPr>
            <a:spLocks noGrp="1"/>
          </p:cNvSpPr>
          <p:nvPr>
            <p:ph type="title"/>
          </p:nvPr>
        </p:nvSpPr>
        <p:spPr>
          <a:xfrm>
            <a:off x="2859405" y="160655"/>
            <a:ext cx="6284595" cy="444500"/>
          </a:xfrm>
        </p:spPr>
        <p:txBody>
          <a:bodyPr anchor="ctr"/>
          <a:p>
            <a:pPr algn="r"/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075" name="文本占位符 3074"/>
          <p:cNvSpPr>
            <a:spLocks noGrp="1"/>
          </p:cNvSpPr>
          <p:nvPr>
            <p:ph type="body" idx="1"/>
          </p:nvPr>
        </p:nvSpPr>
        <p:spPr>
          <a:xfrm>
            <a:off x="457200" y="1598930"/>
            <a:ext cx="8229600" cy="5054600"/>
          </a:xfrm>
        </p:spPr>
        <p:txBody>
          <a:bodyPr/>
          <a:p>
            <a:pPr marL="0" indent="0">
              <a:buNone/>
            </a:pPr>
            <a:r>
              <a:rPr lang="zh-CN" sz="2000" dirty="0"/>
              <a:t>演示：                                 </a:t>
            </a:r>
            <a:endParaRPr lang="zh-CN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-317" y="891858"/>
            <a:ext cx="9128125" cy="7067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4000" kern="1200" cap="none" spc="0" normalizeH="0" baseline="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+mn-cs"/>
              </a:rPr>
              <a:t> 数字证书——百度的数字证书</a:t>
            </a:r>
            <a:endParaRPr kumimoji="0" lang="zh-CN" altLang="en-US" sz="4000" kern="1200" cap="none" spc="0" normalizeH="0" baseline="0" noProof="0" dirty="0">
              <a:solidFill>
                <a:schemeClr val="bg1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pic>
        <p:nvPicPr>
          <p:cNvPr id="6" name="图片 5" descr="截屏2021-06-07 下午8.00.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34540"/>
            <a:ext cx="8074660" cy="45015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6" name="图片 3075" descr="a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标题 3073"/>
          <p:cNvSpPr>
            <a:spLocks noGrp="1"/>
          </p:cNvSpPr>
          <p:nvPr>
            <p:ph type="title"/>
          </p:nvPr>
        </p:nvSpPr>
        <p:spPr>
          <a:xfrm>
            <a:off x="2859405" y="160655"/>
            <a:ext cx="6284595" cy="444500"/>
          </a:xfrm>
        </p:spPr>
        <p:txBody>
          <a:bodyPr anchor="ctr"/>
          <a:p>
            <a:pPr algn="r"/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075" name="文本占位符 3074"/>
          <p:cNvSpPr>
            <a:spLocks noGrp="1"/>
          </p:cNvSpPr>
          <p:nvPr>
            <p:ph type="body" idx="1"/>
          </p:nvPr>
        </p:nvSpPr>
        <p:spPr>
          <a:xfrm>
            <a:off x="457200" y="1598930"/>
            <a:ext cx="8229600" cy="5054600"/>
          </a:xfrm>
        </p:spPr>
        <p:txBody>
          <a:bodyPr/>
          <a:p>
            <a:pPr marL="0" indent="0">
              <a:buNone/>
            </a:pPr>
            <a:r>
              <a:rPr lang="zh-CN" sz="2000" dirty="0"/>
              <a:t>根证书，中间证书，服务器证书</a:t>
            </a:r>
            <a:endParaRPr lang="zh-CN" sz="2000" dirty="0"/>
          </a:p>
          <a:p>
            <a:pPr marL="0" indent="0">
              <a:buNone/>
            </a:pPr>
            <a:r>
              <a:rPr lang="zh-CN" sz="2000" dirty="0"/>
              <a:t>除了根证书，其它证书都要依靠上一级的证书，来证明自己。</a:t>
            </a:r>
            <a:endParaRPr lang="zh-CN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-317" y="891858"/>
            <a:ext cx="9128125" cy="7067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4000" kern="1200" cap="none" spc="0" normalizeH="0" baseline="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+mn-cs"/>
              </a:rPr>
              <a:t> 数字证书——证书链</a:t>
            </a:r>
            <a:endParaRPr kumimoji="0" lang="zh-CN" altLang="en-US" sz="4000" kern="1200" cap="none" spc="0" normalizeH="0" baseline="0" noProof="0" dirty="0">
              <a:solidFill>
                <a:schemeClr val="bg1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pic>
        <p:nvPicPr>
          <p:cNvPr id="5" name="图片 4" descr="截屏2021-06-07 下午8.17.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10" y="2327275"/>
            <a:ext cx="5339080" cy="2844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105" y="4219575"/>
            <a:ext cx="4853305" cy="24339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6" name="图片 3075" descr="a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标题 3073"/>
          <p:cNvSpPr>
            <a:spLocks noGrp="1"/>
          </p:cNvSpPr>
          <p:nvPr>
            <p:ph type="title"/>
          </p:nvPr>
        </p:nvSpPr>
        <p:spPr>
          <a:xfrm>
            <a:off x="2859405" y="160655"/>
            <a:ext cx="6284595" cy="444500"/>
          </a:xfrm>
        </p:spPr>
        <p:txBody>
          <a:bodyPr anchor="ctr"/>
          <a:p>
            <a:pPr algn="r"/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075" name="文本占位符 3074"/>
          <p:cNvSpPr>
            <a:spLocks noGrp="1"/>
          </p:cNvSpPr>
          <p:nvPr>
            <p:ph type="body" idx="1"/>
          </p:nvPr>
        </p:nvSpPr>
        <p:spPr>
          <a:xfrm>
            <a:off x="457200" y="1598930"/>
            <a:ext cx="8229600" cy="5054600"/>
          </a:xfrm>
        </p:spPr>
        <p:txBody>
          <a:bodyPr/>
          <a:p>
            <a:pPr marL="0" indent="0">
              <a:buNone/>
            </a:pPr>
            <a:r>
              <a:rPr lang="zh-CN" sz="2000" dirty="0">
                <a:sym typeface="+mn-ea"/>
              </a:rPr>
              <a:t>CRL：</a:t>
            </a:r>
            <a:r>
              <a:rPr lang="zh-CN" sz="2000" dirty="0"/>
              <a:t>Certificate Revocation List ，证书吊销列表，黑名单</a:t>
            </a: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r>
              <a:rPr lang="en-US" altLang="zh-CN" sz="2000" dirty="0"/>
              <a:t>CRL</a:t>
            </a:r>
            <a:r>
              <a:rPr lang="zh-CN" sz="2000" dirty="0"/>
              <a:t>包含了证书颁发机构   (CA) 已经吊销的证书的序列号及其吊销日期</a:t>
            </a:r>
            <a:endParaRPr lang="zh-CN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-317" y="891858"/>
            <a:ext cx="9128125" cy="7067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4000" kern="1200" cap="none" spc="0" normalizeH="0" baseline="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+mn-cs"/>
              </a:rPr>
              <a:t> 数字证书——</a:t>
            </a:r>
            <a:r>
              <a:rPr kumimoji="0" lang="en-US" altLang="zh-CN" sz="4000" kern="1200" cap="none" spc="0" normalizeH="0" baseline="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+mn-cs"/>
              </a:rPr>
              <a:t>CRL</a:t>
            </a:r>
            <a:endParaRPr kumimoji="0" lang="en-US" altLang="zh-CN" sz="4000" kern="1200" cap="none" spc="0" normalizeH="0" baseline="0" noProof="0" dirty="0">
              <a:solidFill>
                <a:schemeClr val="bg1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6" name="图片 3075" descr="a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标题 3073"/>
          <p:cNvSpPr>
            <a:spLocks noGrp="1"/>
          </p:cNvSpPr>
          <p:nvPr>
            <p:ph type="title"/>
          </p:nvPr>
        </p:nvSpPr>
        <p:spPr>
          <a:xfrm>
            <a:off x="2859405" y="160655"/>
            <a:ext cx="6284595" cy="444500"/>
          </a:xfrm>
        </p:spPr>
        <p:txBody>
          <a:bodyPr anchor="ctr"/>
          <a:p>
            <a:pPr algn="r"/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075" name="文本占位符 3074"/>
          <p:cNvSpPr>
            <a:spLocks noGrp="1"/>
          </p:cNvSpPr>
          <p:nvPr>
            <p:ph type="body" idx="1"/>
          </p:nvPr>
        </p:nvSpPr>
        <p:spPr>
          <a:xfrm>
            <a:off x="457200" y="1598930"/>
            <a:ext cx="8229600" cy="5054600"/>
          </a:xfrm>
        </p:spPr>
        <p:txBody>
          <a:bodyPr/>
          <a:p>
            <a:pPr marL="0" indent="0">
              <a:buNone/>
            </a:pPr>
            <a:r>
              <a:rPr lang="zh-CN" sz="2000" dirty="0"/>
              <a:t>拿到一张数字证书，怎么验证它的有效性呢？（可以类比身份证）</a:t>
            </a:r>
            <a:endParaRPr lang="zh-CN" sz="2000" dirty="0"/>
          </a:p>
          <a:p>
            <a:pPr marL="0" indent="0">
              <a:buNone/>
            </a:pPr>
            <a:r>
              <a:rPr lang="en-US" altLang="zh-CN" sz="2000" dirty="0"/>
              <a:t>1.</a:t>
            </a:r>
            <a:r>
              <a:rPr lang="zh-CN" altLang="en-US" sz="2000" dirty="0"/>
              <a:t>确实是可信的</a:t>
            </a:r>
            <a:r>
              <a:rPr lang="en-US" altLang="zh-CN" sz="2000" dirty="0"/>
              <a:t>CA</a:t>
            </a:r>
            <a:r>
              <a:rPr lang="zh-CN" altLang="en-US" sz="2000" dirty="0"/>
              <a:t>颁发的（身份证确实是某某公安局颁发的）</a:t>
            </a:r>
            <a:endParaRPr lang="zh-CN" altLang="en-US" sz="2000" dirty="0"/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en-US" altLang="zh-CN" sz="2000" dirty="0"/>
              <a:t>2.</a:t>
            </a:r>
            <a:r>
              <a:rPr lang="zh-CN" altLang="en-US" sz="2000" dirty="0"/>
              <a:t>证书在有效期之内（身份证在有效期之内，没有过期）</a:t>
            </a:r>
            <a:endParaRPr lang="zh-CN" altLang="en-US" sz="2000" dirty="0"/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en-US" altLang="zh-CN" sz="2000" dirty="0"/>
              <a:t>3.</a:t>
            </a:r>
            <a:r>
              <a:rPr lang="zh-CN" altLang="en-US" sz="2000" dirty="0"/>
              <a:t>验证证书的状态，是否被吊销</a:t>
            </a:r>
            <a:endParaRPr lang="zh-CN" altLang="en-US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-317" y="891858"/>
            <a:ext cx="9128125" cy="7067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4000" kern="1200" cap="none" spc="0" normalizeH="0" baseline="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+mn-cs"/>
              </a:rPr>
              <a:t> 数字证书——验证证书的有效性</a:t>
            </a:r>
            <a:endParaRPr kumimoji="0" lang="zh-CN" altLang="en-US" sz="4000" kern="1200" cap="none" spc="0" normalizeH="0" baseline="0" noProof="0" dirty="0">
              <a:solidFill>
                <a:schemeClr val="bg1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6" name="图片 3075" descr="a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标题 3073"/>
          <p:cNvSpPr>
            <a:spLocks noGrp="1"/>
          </p:cNvSpPr>
          <p:nvPr>
            <p:ph type="title"/>
          </p:nvPr>
        </p:nvSpPr>
        <p:spPr>
          <a:xfrm>
            <a:off x="2859405" y="160655"/>
            <a:ext cx="6284595" cy="444500"/>
          </a:xfrm>
        </p:spPr>
        <p:txBody>
          <a:bodyPr anchor="ctr"/>
          <a:p>
            <a:pPr algn="r"/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075" name="文本占位符 3074"/>
          <p:cNvSpPr>
            <a:spLocks noGrp="1"/>
          </p:cNvSpPr>
          <p:nvPr>
            <p:ph type="body" idx="1"/>
          </p:nvPr>
        </p:nvSpPr>
        <p:spPr>
          <a:xfrm>
            <a:off x="457200" y="1598930"/>
            <a:ext cx="8229600" cy="5054600"/>
          </a:xfrm>
        </p:spPr>
        <p:txBody>
          <a:bodyPr/>
          <a:p>
            <a:pPr marL="0" indent="0">
              <a:buNone/>
            </a:pPr>
            <a:r>
              <a:rPr lang="en-US" altLang="zh-CN" sz="2000" dirty="0">
                <a:sym typeface="+mn-ea"/>
              </a:rPr>
              <a:t>1.</a:t>
            </a:r>
            <a:r>
              <a:rPr lang="zh-CN" altLang="en-US" sz="2000" dirty="0">
                <a:sym typeface="+mn-ea"/>
              </a:rPr>
              <a:t>确实是可信的</a:t>
            </a:r>
            <a:r>
              <a:rPr lang="en-US" altLang="zh-CN" sz="2000" dirty="0">
                <a:sym typeface="+mn-ea"/>
              </a:rPr>
              <a:t>CA</a:t>
            </a:r>
            <a:r>
              <a:rPr lang="zh-CN" altLang="en-US" sz="2000" dirty="0">
                <a:sym typeface="+mn-ea"/>
              </a:rPr>
              <a:t>颁发的</a:t>
            </a: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-317" y="891858"/>
            <a:ext cx="9128125" cy="7067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4000" kern="1200" cap="none" spc="0" normalizeH="0" baseline="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+mn-cs"/>
              </a:rPr>
              <a:t> 数字证书——</a:t>
            </a:r>
            <a:r>
              <a:rPr lang="zh-CN" altLang="en-US" sz="400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+mn-ea"/>
              </a:rPr>
              <a:t>验证证书的有效性</a:t>
            </a:r>
            <a:endParaRPr kumimoji="0" lang="zh-CN" altLang="en-US" sz="4000" kern="1200" cap="none" spc="0" normalizeH="0" baseline="0" noProof="0" dirty="0">
              <a:solidFill>
                <a:schemeClr val="bg1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2212340"/>
            <a:ext cx="4853305" cy="2433955"/>
          </a:xfrm>
          <a:prstGeom prst="rect">
            <a:avLst/>
          </a:prstGeom>
        </p:spPr>
      </p:pic>
      <p:pic>
        <p:nvPicPr>
          <p:cNvPr id="5" name="图片 4" descr="截屏2021-06-07 下午9.01.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646295"/>
            <a:ext cx="8140700" cy="13138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6" name="图片 3075" descr="a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标题 3073"/>
          <p:cNvSpPr>
            <a:spLocks noGrp="1"/>
          </p:cNvSpPr>
          <p:nvPr>
            <p:ph type="title"/>
          </p:nvPr>
        </p:nvSpPr>
        <p:spPr>
          <a:xfrm>
            <a:off x="2859405" y="160655"/>
            <a:ext cx="6284595" cy="444500"/>
          </a:xfrm>
        </p:spPr>
        <p:txBody>
          <a:bodyPr anchor="ctr"/>
          <a:p>
            <a:pPr algn="r"/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075" name="文本占位符 3074"/>
          <p:cNvSpPr>
            <a:spLocks noGrp="1"/>
          </p:cNvSpPr>
          <p:nvPr>
            <p:ph type="body" idx="1"/>
          </p:nvPr>
        </p:nvSpPr>
        <p:spPr>
          <a:xfrm>
            <a:off x="457200" y="1598930"/>
            <a:ext cx="8229600" cy="5054600"/>
          </a:xfrm>
        </p:spPr>
        <p:txBody>
          <a:bodyPr/>
          <a:p>
            <a:pPr marL="0" indent="0">
              <a:buNone/>
            </a:pPr>
            <a:r>
              <a:rPr lang="en-US" altLang="zh-CN" sz="2000" dirty="0">
                <a:sym typeface="+mn-ea"/>
              </a:rPr>
              <a:t>2.</a:t>
            </a:r>
            <a:r>
              <a:rPr lang="zh-CN" altLang="en-US" sz="2000" dirty="0">
                <a:sym typeface="+mn-ea"/>
              </a:rPr>
              <a:t>证书在有效期之内</a:t>
            </a: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endParaRPr lang="zh-CN" sz="2000" dirty="0"/>
          </a:p>
          <a:p>
            <a:pPr marL="0" indent="0">
              <a:buNone/>
            </a:pPr>
            <a:r>
              <a:rPr lang="en-US" altLang="zh-CN" sz="2000" dirty="0"/>
              <a:t>not before</a:t>
            </a:r>
            <a:r>
              <a:rPr lang="zh-CN" altLang="en-US" sz="2000" dirty="0"/>
              <a:t>在当前时间之后，则该证书未生效</a:t>
            </a:r>
            <a:endParaRPr lang="zh-CN" altLang="en-US" sz="2000" dirty="0"/>
          </a:p>
          <a:p>
            <a:pPr marL="0" indent="0">
              <a:buNone/>
            </a:pPr>
            <a:r>
              <a:rPr lang="en-US" altLang="zh-CN" sz="2000" dirty="0"/>
              <a:t>not after</a:t>
            </a:r>
            <a:r>
              <a:rPr lang="zh-CN" altLang="en-US" sz="2000" dirty="0"/>
              <a:t>在当前时间之前，则该证书已过期</a:t>
            </a:r>
            <a:endParaRPr lang="zh-CN" altLang="en-US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-317" y="891858"/>
            <a:ext cx="9128125" cy="7067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4000" kern="1200" cap="none" spc="0" normalizeH="0" baseline="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+mn-cs"/>
              </a:rPr>
              <a:t> 数字证书——</a:t>
            </a:r>
            <a:r>
              <a:rPr lang="zh-CN" altLang="en-US" sz="400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+mn-ea"/>
              </a:rPr>
              <a:t>验证证书的有效性</a:t>
            </a:r>
            <a:endParaRPr kumimoji="0" lang="zh-CN" altLang="en-US" sz="4000" kern="1200" cap="none" spc="0" normalizeH="0" baseline="0" noProof="0" dirty="0">
              <a:solidFill>
                <a:schemeClr val="bg1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pic>
        <p:nvPicPr>
          <p:cNvPr id="5" name="图片 4" descr="截屏2021-06-07 下午9.03.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00910"/>
            <a:ext cx="5578475" cy="33343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6" name="图片 3075" descr="a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标题 3073"/>
          <p:cNvSpPr>
            <a:spLocks noGrp="1"/>
          </p:cNvSpPr>
          <p:nvPr>
            <p:ph type="title"/>
          </p:nvPr>
        </p:nvSpPr>
        <p:spPr>
          <a:xfrm>
            <a:off x="2859405" y="160655"/>
            <a:ext cx="6284595" cy="444500"/>
          </a:xfrm>
        </p:spPr>
        <p:txBody>
          <a:bodyPr anchor="ctr"/>
          <a:p>
            <a:pPr algn="r"/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075" name="文本占位符 3074"/>
          <p:cNvSpPr>
            <a:spLocks noGrp="1"/>
          </p:cNvSpPr>
          <p:nvPr>
            <p:ph type="body" idx="1"/>
          </p:nvPr>
        </p:nvSpPr>
        <p:spPr>
          <a:xfrm>
            <a:off x="457200" y="1598930"/>
            <a:ext cx="8229600" cy="5054600"/>
          </a:xfrm>
        </p:spPr>
        <p:txBody>
          <a:bodyPr/>
          <a:p>
            <a:pPr marL="0" indent="0">
              <a:buNone/>
            </a:pPr>
            <a:r>
              <a:rPr lang="en-US" altLang="zh-CN" sz="2000" dirty="0">
                <a:sym typeface="+mn-ea"/>
              </a:rPr>
              <a:t>3.</a:t>
            </a:r>
            <a:r>
              <a:rPr lang="zh-CN" altLang="en-US" sz="2000" dirty="0">
                <a:sym typeface="+mn-ea"/>
              </a:rPr>
              <a:t>验证证书的状态，是否被吊销</a:t>
            </a: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r>
              <a:rPr lang="zh-CN" altLang="en-US" sz="2000" dirty="0">
                <a:sym typeface="+mn-ea"/>
              </a:rPr>
              <a:t>（</a:t>
            </a:r>
            <a:r>
              <a:rPr lang="en-US" altLang="zh-CN" sz="2000" dirty="0">
                <a:sym typeface="+mn-ea"/>
              </a:rPr>
              <a:t>1</a:t>
            </a:r>
            <a:r>
              <a:rPr lang="zh-CN" altLang="en-US" sz="2000" dirty="0">
                <a:sym typeface="+mn-ea"/>
              </a:rPr>
              <a:t>）基于</a:t>
            </a:r>
            <a:r>
              <a:rPr lang="en-US" altLang="zh-CN" sz="2000" dirty="0">
                <a:sym typeface="+mn-ea"/>
              </a:rPr>
              <a:t>CRL</a:t>
            </a:r>
            <a:r>
              <a:rPr lang="zh-CN" altLang="en-US" sz="2000" dirty="0">
                <a:sym typeface="+mn-ea"/>
              </a:rPr>
              <a:t>验证证书状态</a:t>
            </a: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r>
              <a:rPr lang="zh-CN" altLang="en-US" sz="2000" dirty="0"/>
              <a:t>若</a:t>
            </a:r>
            <a:r>
              <a:rPr lang="en-US" altLang="zh-CN" sz="2000" dirty="0"/>
              <a:t>CRL</a:t>
            </a:r>
            <a:r>
              <a:rPr lang="zh-CN" altLang="en-US" sz="2000" dirty="0"/>
              <a:t>中包含待验证证书的序列号，则证书状态为无效，否则证书状态有效</a:t>
            </a:r>
            <a:endParaRPr lang="zh-CN" altLang="en-US" sz="2000" dirty="0"/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）基于</a:t>
            </a:r>
            <a:r>
              <a:rPr lang="en-US" altLang="zh-CN" sz="2000" dirty="0"/>
              <a:t>OCSP</a:t>
            </a:r>
            <a:r>
              <a:rPr lang="zh-CN" altLang="en-US" sz="2000" dirty="0"/>
              <a:t>验证证书状态</a:t>
            </a:r>
            <a:endParaRPr lang="zh-CN" altLang="en-US" sz="2000" dirty="0"/>
          </a:p>
          <a:p>
            <a:pPr marL="0" indent="0">
              <a:buNone/>
            </a:pPr>
            <a:r>
              <a:rPr lang="en-US" altLang="zh-CN" sz="2000" dirty="0"/>
              <a:t>OCSP</a:t>
            </a:r>
            <a:r>
              <a:rPr lang="zh-CN" altLang="en-US" sz="2000" dirty="0"/>
              <a:t>：在线证书状态协议，能够确定待验证证书的状态</a:t>
            </a:r>
            <a:endParaRPr lang="zh-CN" altLang="en-US" sz="2000" dirty="0"/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zh-CN" altLang="en-US" sz="2000" dirty="0"/>
              <a:t>此方法优于证书吊销列表 (CRL)。在 CRL 方法中，CA 发布有问题且现在已被吊销的所有证书的列表，需要一个个与待验证证书核对。而OCSP 可以只检查一个证书的状态，而不是处理一大堆证书。</a:t>
            </a:r>
            <a:endParaRPr lang="zh-CN" altLang="en-US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-317" y="891858"/>
            <a:ext cx="9128125" cy="7067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4000" kern="1200" cap="none" spc="0" normalizeH="0" baseline="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+mn-cs"/>
              </a:rPr>
              <a:t> 数字证书——</a:t>
            </a:r>
            <a:r>
              <a:rPr lang="zh-CN" altLang="en-US" sz="400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+mn-ea"/>
              </a:rPr>
              <a:t>验证证书的有效性</a:t>
            </a:r>
            <a:endParaRPr kumimoji="0" lang="zh-CN" altLang="en-US" sz="4000" kern="1200" cap="none" spc="0" normalizeH="0" baseline="0" noProof="0" dirty="0">
              <a:solidFill>
                <a:schemeClr val="bg1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6" name="图片 3075" descr="a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1755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标题 3073"/>
          <p:cNvSpPr>
            <a:spLocks noGrp="1"/>
          </p:cNvSpPr>
          <p:nvPr>
            <p:ph type="title"/>
          </p:nvPr>
        </p:nvSpPr>
        <p:spPr>
          <a:xfrm>
            <a:off x="2859405" y="160655"/>
            <a:ext cx="6284595" cy="444500"/>
          </a:xfrm>
        </p:spPr>
        <p:txBody>
          <a:bodyPr anchor="ctr"/>
          <a:p>
            <a:pPr algn="r"/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075" name="文本占位符 3074"/>
          <p:cNvSpPr>
            <a:spLocks noGrp="1"/>
          </p:cNvSpPr>
          <p:nvPr>
            <p:ph type="body" idx="1"/>
          </p:nvPr>
        </p:nvSpPr>
        <p:spPr>
          <a:xfrm>
            <a:off x="457200" y="1598930"/>
            <a:ext cx="8229600" cy="5054600"/>
          </a:xfrm>
        </p:spPr>
        <p:txBody>
          <a:bodyPr/>
          <a:p>
            <a:pPr marL="0" indent="0">
              <a:buNone/>
            </a:pPr>
            <a:r>
              <a:rPr lang="zh-CN" sz="2000" dirty="0"/>
              <a:t>使用</a:t>
            </a:r>
            <a:r>
              <a:rPr lang="en-US" altLang="zh-CN" sz="2000" dirty="0"/>
              <a:t>openssl</a:t>
            </a:r>
            <a:r>
              <a:rPr lang="zh-CN" altLang="en-US" sz="2000" dirty="0"/>
              <a:t>这个工具，验证证书的有效性</a:t>
            </a:r>
            <a:endParaRPr lang="zh-CN" altLang="en-US" sz="2000" dirty="0"/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zh-CN" altLang="en-US" sz="2000" dirty="0"/>
              <a:t>背景：利用</a:t>
            </a:r>
            <a:r>
              <a:rPr lang="en-US" altLang="zh-CN" sz="2000" dirty="0"/>
              <a:t>openssl</a:t>
            </a:r>
            <a:r>
              <a:rPr lang="zh-CN" altLang="en-US" sz="2000" dirty="0"/>
              <a:t>创建根证书</a:t>
            </a:r>
            <a:r>
              <a:rPr lang="en-US" altLang="zh-CN" sz="2000" dirty="0"/>
              <a:t>cacert.pem</a:t>
            </a:r>
            <a:r>
              <a:rPr lang="zh-CN" altLang="en-US" sz="2000" dirty="0"/>
              <a:t>，根证书签发两个证书：</a:t>
            </a:r>
            <a:r>
              <a:rPr lang="en-US" altLang="zh-CN" sz="2000" dirty="0"/>
              <a:t>test.crt</a:t>
            </a:r>
            <a:r>
              <a:rPr lang="zh-CN" altLang="en-US" sz="2000" dirty="0"/>
              <a:t>和</a:t>
            </a:r>
            <a:r>
              <a:rPr lang="en-US" altLang="zh-CN" sz="2000" dirty="0"/>
              <a:t>test11.crt</a:t>
            </a:r>
            <a:r>
              <a:rPr lang="zh-CN" altLang="en-US" sz="2000" dirty="0"/>
              <a:t>，然后撤销了</a:t>
            </a:r>
            <a:r>
              <a:rPr lang="en-US" altLang="zh-CN" sz="2000" dirty="0">
                <a:sym typeface="+mn-ea"/>
              </a:rPr>
              <a:t>test11.crt</a:t>
            </a:r>
            <a:r>
              <a:rPr lang="zh-CN" altLang="en-US" sz="2000" dirty="0">
                <a:sym typeface="+mn-ea"/>
              </a:rPr>
              <a:t>，生成一个</a:t>
            </a:r>
            <a:r>
              <a:rPr lang="en-US" altLang="zh-CN" sz="2000" dirty="0">
                <a:sym typeface="+mn-ea"/>
              </a:rPr>
              <a:t>CRL</a:t>
            </a:r>
            <a:r>
              <a:rPr lang="zh-CN" altLang="en-US" sz="2000" dirty="0">
                <a:sym typeface="+mn-ea"/>
              </a:rPr>
              <a:t>文件。</a:t>
            </a: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r>
              <a:rPr lang="zh-CN" altLang="en-US" sz="2000" dirty="0">
                <a:sym typeface="+mn-ea"/>
              </a:rPr>
              <a:t>目的：验证证书</a:t>
            </a:r>
            <a:r>
              <a:rPr lang="en-US" altLang="zh-CN" sz="2000" dirty="0">
                <a:sym typeface="+mn-ea"/>
              </a:rPr>
              <a:t>test.crt</a:t>
            </a:r>
            <a:r>
              <a:rPr lang="zh-CN" altLang="en-US" sz="2000" dirty="0">
                <a:sym typeface="+mn-ea"/>
              </a:rPr>
              <a:t>和</a:t>
            </a:r>
            <a:r>
              <a:rPr lang="en-US" altLang="zh-CN" sz="2000" dirty="0">
                <a:sym typeface="+mn-ea"/>
              </a:rPr>
              <a:t>test11.crt</a:t>
            </a:r>
            <a:r>
              <a:rPr lang="zh-CN" altLang="en-US" sz="2000" dirty="0">
                <a:sym typeface="+mn-ea"/>
              </a:rPr>
              <a:t>的有效性（基于</a:t>
            </a:r>
            <a:r>
              <a:rPr lang="en-US" altLang="zh-CN" sz="2000" dirty="0">
                <a:sym typeface="+mn-ea"/>
              </a:rPr>
              <a:t>CRL</a:t>
            </a:r>
            <a:r>
              <a:rPr lang="zh-CN" altLang="en-US" sz="2000" dirty="0">
                <a:sym typeface="+mn-ea"/>
              </a:rPr>
              <a:t>）</a:t>
            </a: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r>
              <a:rPr lang="zh-CN" altLang="en-US" sz="2000" dirty="0">
                <a:sym typeface="+mn-ea"/>
              </a:rPr>
              <a:t>命令：openssl verify -CAfile cacert.pem -verbose -crl_check -CRLfile crl/crl.crl certs/test.crt certs/test11.crt </a:t>
            </a: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r>
              <a:rPr lang="zh-CN" altLang="en-US" sz="2000" dirty="0">
                <a:sym typeface="+mn-ea"/>
              </a:rPr>
              <a:t>数字证书验证工具：</a:t>
            </a:r>
            <a:r>
              <a:rPr lang="en-US" altLang="zh-CN" sz="2000" dirty="0">
                <a:sym typeface="+mn-ea"/>
              </a:rPr>
              <a:t>1.</a:t>
            </a:r>
            <a:r>
              <a:rPr lang="zh-CN" altLang="en-US" sz="2000" dirty="0">
                <a:sym typeface="+mn-ea"/>
              </a:rPr>
              <a:t>验证证书的有效性  </a:t>
            </a:r>
            <a:r>
              <a:rPr lang="en-US" altLang="zh-CN" sz="2000" dirty="0">
                <a:sym typeface="+mn-ea"/>
              </a:rPr>
              <a:t>2.</a:t>
            </a:r>
            <a:r>
              <a:rPr lang="zh-CN" altLang="en-US" sz="2000" dirty="0">
                <a:sym typeface="+mn-ea"/>
              </a:rPr>
              <a:t>查看证书信息</a:t>
            </a: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317" y="891858"/>
            <a:ext cx="9128125" cy="7067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4000" kern="1200" cap="none" spc="0" normalizeH="0" baseline="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+mn-cs"/>
              </a:rPr>
              <a:t> 数字证书——</a:t>
            </a:r>
            <a:r>
              <a:rPr lang="zh-CN" altLang="en-US" sz="400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+mn-ea"/>
              </a:rPr>
              <a:t>验证证书的有效性</a:t>
            </a:r>
            <a:endParaRPr kumimoji="0" lang="zh-CN" altLang="en-US" sz="4000" kern="1200" cap="none" spc="0" normalizeH="0" baseline="0" noProof="0" dirty="0">
              <a:solidFill>
                <a:schemeClr val="bg1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pic>
        <p:nvPicPr>
          <p:cNvPr id="3" name="图片 2" descr="截屏2021-06-07 下午9.27.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40" y="5243830"/>
            <a:ext cx="8168640" cy="5956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6" name="图片 3075" descr="a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标题 3073"/>
          <p:cNvSpPr>
            <a:spLocks noGrp="1"/>
          </p:cNvSpPr>
          <p:nvPr>
            <p:ph type="title"/>
          </p:nvPr>
        </p:nvSpPr>
        <p:spPr>
          <a:xfrm>
            <a:off x="2859405" y="160655"/>
            <a:ext cx="6284595" cy="444500"/>
          </a:xfrm>
        </p:spPr>
        <p:txBody>
          <a:bodyPr anchor="ctr"/>
          <a:p>
            <a:pPr algn="r"/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075" name="文本占位符 3074"/>
          <p:cNvSpPr>
            <a:spLocks noGrp="1"/>
          </p:cNvSpPr>
          <p:nvPr>
            <p:ph type="body" idx="1"/>
          </p:nvPr>
        </p:nvSpPr>
        <p:spPr>
          <a:xfrm>
            <a:off x="457200" y="1598930"/>
            <a:ext cx="8229600" cy="5054600"/>
          </a:xfrm>
        </p:spPr>
        <p:txBody>
          <a:bodyPr/>
          <a:p>
            <a:pPr marL="0" indent="0">
              <a:buNone/>
            </a:pPr>
            <a:r>
              <a:rPr lang="zh-CN" altLang="en-US" sz="2000" dirty="0">
                <a:sym typeface="+mn-ea"/>
              </a:rPr>
              <a:t>使用 OpenSSL 进行 OCSP 验证，以京东的数字证书为例子</a:t>
            </a: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r>
              <a:rPr lang="zh-CN" altLang="en-US" sz="2000" dirty="0">
                <a:sym typeface="+mn-ea"/>
              </a:rPr>
              <a:t>（</a:t>
            </a:r>
            <a:r>
              <a:rPr lang="en-US" altLang="zh-CN" sz="2000" dirty="0">
                <a:sym typeface="+mn-ea"/>
              </a:rPr>
              <a:t>1</a:t>
            </a:r>
            <a:r>
              <a:rPr lang="zh-CN" altLang="en-US" sz="2000" dirty="0">
                <a:sym typeface="+mn-ea"/>
              </a:rPr>
              <a:t>）获取服务器证书</a:t>
            </a: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317" y="891858"/>
            <a:ext cx="9128125" cy="7067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4000" kern="1200" cap="none" spc="0" normalizeH="0" baseline="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+mn-cs"/>
              </a:rPr>
              <a:t> 数字证书——</a:t>
            </a:r>
            <a:r>
              <a:rPr lang="zh-CN" altLang="en-US" sz="400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+mn-ea"/>
              </a:rPr>
              <a:t>验证证书的有效性</a:t>
            </a:r>
            <a:endParaRPr kumimoji="0" lang="zh-CN" altLang="en-US" sz="4000" kern="1200" cap="none" spc="0" normalizeH="0" baseline="0" noProof="0" dirty="0">
              <a:solidFill>
                <a:schemeClr val="bg1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pic>
        <p:nvPicPr>
          <p:cNvPr id="5" name="图片 4" descr="截屏2021-06-07 下午10.26.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25" y="2894965"/>
            <a:ext cx="7414260" cy="37585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6" name="图片 3075" descr="a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标题 3073"/>
          <p:cNvSpPr>
            <a:spLocks noGrp="1"/>
          </p:cNvSpPr>
          <p:nvPr>
            <p:ph type="title"/>
          </p:nvPr>
        </p:nvSpPr>
        <p:spPr>
          <a:xfrm>
            <a:off x="2859405" y="160655"/>
            <a:ext cx="6284595" cy="444500"/>
          </a:xfrm>
        </p:spPr>
        <p:txBody>
          <a:bodyPr anchor="ctr"/>
          <a:p>
            <a:pPr algn="r"/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075" name="文本占位符 3074"/>
          <p:cNvSpPr>
            <a:spLocks noGrp="1"/>
          </p:cNvSpPr>
          <p:nvPr>
            <p:ph type="body" idx="1"/>
          </p:nvPr>
        </p:nvSpPr>
        <p:spPr>
          <a:xfrm>
            <a:off x="457200" y="1598930"/>
            <a:ext cx="8229600" cy="5054600"/>
          </a:xfrm>
        </p:spPr>
        <p:txBody>
          <a:bodyPr/>
          <a:p>
            <a:pPr marL="0" indent="0">
              <a:buNone/>
            </a:pPr>
            <a:r>
              <a:rPr lang="zh-CN" altLang="en-US" sz="2000" dirty="0">
                <a:sym typeface="+mn-ea"/>
              </a:rPr>
              <a:t>使用 OpenSSL 进行 OCSP 验证，以京东的数字证书为例子</a:t>
            </a: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r>
              <a:rPr lang="zh-CN" altLang="en-US" sz="2000" dirty="0">
                <a:sym typeface="+mn-ea"/>
              </a:rPr>
              <a:t>（</a:t>
            </a:r>
            <a:r>
              <a:rPr lang="en-US" altLang="zh-CN" sz="2000" dirty="0">
                <a:sym typeface="+mn-ea"/>
              </a:rPr>
              <a:t>2</a:t>
            </a:r>
            <a:r>
              <a:rPr lang="zh-CN" altLang="en-US" sz="2000" dirty="0">
                <a:sym typeface="+mn-ea"/>
              </a:rPr>
              <a:t>）获取中间证书</a:t>
            </a: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r>
              <a:rPr lang="zh-CN" altLang="en-US" sz="2000" dirty="0">
                <a:sym typeface="+mn-ea"/>
              </a:rPr>
              <a:t>通常，CA 不会直接签署证书。他们使用中间证书。因此，请求获取所有中间证书。</a:t>
            </a: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317" y="891858"/>
            <a:ext cx="9128125" cy="7067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4000" kern="1200" cap="none" spc="0" normalizeH="0" baseline="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+mn-cs"/>
              </a:rPr>
              <a:t> 数字证书——</a:t>
            </a:r>
            <a:r>
              <a:rPr lang="zh-CN" altLang="en-US" sz="400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+mn-ea"/>
              </a:rPr>
              <a:t>验证证书的有效性</a:t>
            </a:r>
            <a:endParaRPr kumimoji="0" lang="zh-CN" altLang="en-US" sz="4000" kern="1200" cap="none" spc="0" normalizeH="0" baseline="0" noProof="0" dirty="0">
              <a:solidFill>
                <a:schemeClr val="bg1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pic>
        <p:nvPicPr>
          <p:cNvPr id="3" name="图片 2" descr="截屏2021-06-07 下午10.26.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15" y="3471545"/>
            <a:ext cx="5727065" cy="33547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6" name="图片 3075" descr="a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标题 3073"/>
          <p:cNvSpPr>
            <a:spLocks noGrp="1"/>
          </p:cNvSpPr>
          <p:nvPr>
            <p:ph type="title"/>
          </p:nvPr>
        </p:nvSpPr>
        <p:spPr>
          <a:xfrm>
            <a:off x="2859405" y="160655"/>
            <a:ext cx="6284595" cy="444500"/>
          </a:xfrm>
        </p:spPr>
        <p:txBody>
          <a:bodyPr anchor="ctr"/>
          <a:p>
            <a:pPr algn="r"/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075" name="文本占位符 3074"/>
          <p:cNvSpPr>
            <a:spLocks noGrp="1"/>
          </p:cNvSpPr>
          <p:nvPr>
            <p:ph type="body" idx="1"/>
          </p:nvPr>
        </p:nvSpPr>
        <p:spPr>
          <a:xfrm>
            <a:off x="457200" y="1598930"/>
            <a:ext cx="8418195" cy="5054600"/>
          </a:xfrm>
        </p:spPr>
        <p:txBody>
          <a:bodyPr/>
          <a:p>
            <a:pPr marL="0" indent="0">
              <a:buNone/>
            </a:pPr>
            <a:r>
              <a:rPr lang="zh-CN" altLang="en-US" sz="2000" dirty="0">
                <a:sym typeface="+mn-ea"/>
              </a:rPr>
              <a:t>使用 OpenSSL 进行 OCSP 验证，以京东的数字证书为例子</a:t>
            </a: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r>
              <a:rPr lang="zh-CN" altLang="en-US" sz="2000" dirty="0">
                <a:sym typeface="+mn-ea"/>
              </a:rPr>
              <a:t>（</a:t>
            </a:r>
            <a:r>
              <a:rPr lang="en-US" altLang="zh-CN" sz="2000" dirty="0">
                <a:sym typeface="+mn-ea"/>
              </a:rPr>
              <a:t>3</a:t>
            </a:r>
            <a:r>
              <a:rPr lang="zh-CN" altLang="en-US" sz="2000" dirty="0">
                <a:sym typeface="+mn-ea"/>
              </a:rPr>
              <a:t>）获取服务器证书的 OCSP 响应程序，就是一个</a:t>
            </a:r>
            <a:r>
              <a:rPr lang="en-US" altLang="zh-CN" sz="2000" dirty="0">
                <a:sym typeface="+mn-ea"/>
              </a:rPr>
              <a:t>url</a:t>
            </a:r>
            <a:r>
              <a:rPr lang="zh-CN" altLang="en-US" sz="2000" dirty="0">
                <a:sym typeface="+mn-ea"/>
              </a:rPr>
              <a:t>，是在证书里面的</a:t>
            </a: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r>
              <a:rPr lang="zh-CN" altLang="en-US" sz="2000" dirty="0">
                <a:sym typeface="+mn-ea"/>
              </a:rPr>
              <a:t>     可以使用命令提取：</a:t>
            </a:r>
            <a:endParaRPr lang="zh-CN" altLang="en-US" sz="2000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317" y="891858"/>
            <a:ext cx="9128125" cy="7067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4000" kern="1200" cap="none" spc="0" normalizeH="0" baseline="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+mn-cs"/>
              </a:rPr>
              <a:t> 数字证书——</a:t>
            </a:r>
            <a:r>
              <a:rPr lang="zh-CN" altLang="en-US" sz="400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+mn-ea"/>
              </a:rPr>
              <a:t>验证证书的有效性</a:t>
            </a:r>
            <a:endParaRPr kumimoji="0" lang="zh-CN" altLang="en-US" sz="4000" kern="1200" cap="none" spc="0" normalizeH="0" baseline="0" noProof="0" dirty="0">
              <a:solidFill>
                <a:schemeClr val="bg1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pic>
        <p:nvPicPr>
          <p:cNvPr id="4" name="图片 3" descr="截屏2021-06-07 下午10.29.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15" y="2832735"/>
            <a:ext cx="5359400" cy="1820545"/>
          </a:xfrm>
          <a:prstGeom prst="rect">
            <a:avLst/>
          </a:prstGeom>
        </p:spPr>
      </p:pic>
      <p:pic>
        <p:nvPicPr>
          <p:cNvPr id="5" name="图片 4" descr="截屏2021-06-07 下午10.31.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15" y="5375910"/>
            <a:ext cx="7417435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6" name="图片 3075" descr="a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标题 3073"/>
          <p:cNvSpPr>
            <a:spLocks noGrp="1"/>
          </p:cNvSpPr>
          <p:nvPr>
            <p:ph type="title"/>
          </p:nvPr>
        </p:nvSpPr>
        <p:spPr>
          <a:xfrm>
            <a:off x="2859405" y="160655"/>
            <a:ext cx="6284595" cy="444500"/>
          </a:xfrm>
        </p:spPr>
        <p:txBody>
          <a:bodyPr anchor="ctr"/>
          <a:p>
            <a:pPr algn="r"/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075" name="文本占位符 3074"/>
          <p:cNvSpPr>
            <a:spLocks noGrp="1"/>
          </p:cNvSpPr>
          <p:nvPr>
            <p:ph type="body" idx="1"/>
          </p:nvPr>
        </p:nvSpPr>
        <p:spPr>
          <a:xfrm>
            <a:off x="457200" y="1598930"/>
            <a:ext cx="8418195" cy="5054600"/>
          </a:xfrm>
        </p:spPr>
        <p:txBody>
          <a:bodyPr/>
          <a:p>
            <a:pPr marL="0" indent="0">
              <a:buNone/>
            </a:pPr>
            <a:r>
              <a:rPr lang="zh-CN" altLang="en-US" sz="2000" dirty="0">
                <a:sym typeface="+mn-ea"/>
              </a:rPr>
              <a:t>使用 OpenSSL 进行 OCSP 验证，以京东的数字证书为例子</a:t>
            </a: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r>
              <a:rPr lang="zh-CN" altLang="en-US" sz="2000" dirty="0">
                <a:sym typeface="+mn-ea"/>
              </a:rPr>
              <a:t>（</a:t>
            </a:r>
            <a:r>
              <a:rPr lang="en-US" altLang="zh-CN" sz="2000" dirty="0">
                <a:sym typeface="+mn-ea"/>
              </a:rPr>
              <a:t>4</a:t>
            </a:r>
            <a:r>
              <a:rPr lang="zh-CN" altLang="en-US" sz="2000" dirty="0">
                <a:sym typeface="+mn-ea"/>
              </a:rPr>
              <a:t>）发出 OCSP 请求</a:t>
            </a: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r>
              <a:rPr lang="zh-CN" altLang="en-US" sz="2000" dirty="0">
                <a:sym typeface="+mn-ea"/>
              </a:rPr>
              <a:t>   需要：服务器证书、CA 证书链和 OCSP 响应者 URL</a:t>
            </a: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r>
              <a:rPr lang="zh-CN" altLang="en-US" sz="2000" dirty="0">
                <a:sym typeface="+mn-ea"/>
              </a:rPr>
              <a:t>数字证书验证工具：</a:t>
            </a:r>
            <a:r>
              <a:rPr lang="en-US" altLang="zh-CN" sz="2000" dirty="0">
                <a:sym typeface="+mn-ea"/>
              </a:rPr>
              <a:t>1.</a:t>
            </a:r>
            <a:r>
              <a:rPr lang="zh-CN" altLang="en-US" sz="2000" dirty="0">
                <a:sym typeface="+mn-ea"/>
              </a:rPr>
              <a:t>查看证书状态  </a:t>
            </a:r>
            <a:r>
              <a:rPr lang="en-US" altLang="zh-CN" sz="2000" dirty="0">
                <a:sym typeface="+mn-ea"/>
              </a:rPr>
              <a:t>2.</a:t>
            </a:r>
            <a:r>
              <a:rPr lang="zh-CN" altLang="en-US" sz="2000" dirty="0">
                <a:sym typeface="+mn-ea"/>
              </a:rPr>
              <a:t>查看证书信息</a:t>
            </a:r>
            <a:endParaRPr lang="zh-CN" altLang="en-US" sz="2000" dirty="0"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317" y="891858"/>
            <a:ext cx="9128125" cy="7067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4000" kern="1200" cap="none" spc="0" normalizeH="0" baseline="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+mn-cs"/>
              </a:rPr>
              <a:t> 数字证书——</a:t>
            </a:r>
            <a:r>
              <a:rPr lang="zh-CN" altLang="en-US" sz="400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+mn-ea"/>
              </a:rPr>
              <a:t>验证证书的有效性</a:t>
            </a:r>
            <a:endParaRPr kumimoji="0" lang="zh-CN" altLang="en-US" sz="4000" kern="1200" cap="none" spc="0" normalizeH="0" baseline="0" noProof="0" dirty="0">
              <a:solidFill>
                <a:schemeClr val="bg1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  <p:pic>
        <p:nvPicPr>
          <p:cNvPr id="3" name="图片 2" descr="截屏2021-06-07 下午10.32.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20" y="3311525"/>
            <a:ext cx="6963410" cy="28422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6" name="图片 3075" descr="a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标题 3073"/>
          <p:cNvSpPr>
            <a:spLocks noGrp="1"/>
          </p:cNvSpPr>
          <p:nvPr>
            <p:ph type="title"/>
          </p:nvPr>
        </p:nvSpPr>
        <p:spPr>
          <a:xfrm>
            <a:off x="2859405" y="160655"/>
            <a:ext cx="6284595" cy="444500"/>
          </a:xfrm>
        </p:spPr>
        <p:txBody>
          <a:bodyPr anchor="ctr"/>
          <a:p>
            <a:pPr algn="r"/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075" name="文本占位符 3074"/>
          <p:cNvSpPr>
            <a:spLocks noGrp="1"/>
          </p:cNvSpPr>
          <p:nvPr>
            <p:ph type="body" idx="1"/>
          </p:nvPr>
        </p:nvSpPr>
        <p:spPr>
          <a:xfrm>
            <a:off x="457200" y="1598930"/>
            <a:ext cx="8258810" cy="4803775"/>
          </a:xfrm>
        </p:spPr>
        <p:txBody>
          <a:bodyPr/>
          <a:p>
            <a:pPr marL="0" indent="0">
              <a:buNone/>
            </a:pPr>
            <a:endParaRPr lang="zh-CN" dirty="0"/>
          </a:p>
          <a:p>
            <a:pPr algn="ctr">
              <a:buNone/>
            </a:pPr>
            <a:endParaRPr lang="zh-CN" altLang="en-US" sz="4000" noProof="0" dirty="0">
              <a:ln>
                <a:noFill/>
              </a:ln>
              <a:effectLst/>
              <a:uLnTx/>
              <a:uFillTx/>
              <a:latin typeface="黑体" pitchFamily="49" charset="-122"/>
              <a:ea typeface="黑体" pitchFamily="49" charset="-122"/>
              <a:sym typeface="+mn-ea"/>
            </a:endParaRPr>
          </a:p>
          <a:p>
            <a:pPr algn="ctr">
              <a:buNone/>
            </a:pPr>
            <a:endParaRPr lang="zh-CN" altLang="en-US" sz="4000" noProof="0" dirty="0">
              <a:ln>
                <a:noFill/>
              </a:ln>
              <a:effectLst/>
              <a:uLnTx/>
              <a:uFillTx/>
              <a:latin typeface="黑体" pitchFamily="49" charset="-122"/>
              <a:ea typeface="黑体" pitchFamily="49" charset="-122"/>
              <a:sym typeface="+mn-ea"/>
            </a:endParaRPr>
          </a:p>
          <a:p>
            <a:pPr algn="ctr">
              <a:buNone/>
            </a:pPr>
            <a:r>
              <a:rPr lang="zh-CN" altLang="en-US" sz="4000" noProof="0" dirty="0">
                <a:ln>
                  <a:noFill/>
                </a:ln>
                <a:effectLst/>
                <a:uLnTx/>
                <a:uFillTx/>
                <a:latin typeface="黑体" pitchFamily="49" charset="-122"/>
                <a:ea typeface="黑体" pitchFamily="49" charset="-122"/>
                <a:sym typeface="+mn-ea"/>
              </a:rPr>
              <a:t>感谢各位聆听！</a:t>
            </a:r>
            <a:endParaRPr lang="zh-CN" sz="2000" dirty="0"/>
          </a:p>
          <a:p>
            <a:pPr marL="0" indent="0">
              <a:buNone/>
            </a:pPr>
            <a:endParaRPr 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-317" y="891858"/>
            <a:ext cx="9128125" cy="7067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4000" kern="1200" cap="none" spc="0" normalizeH="0" baseline="0" noProof="0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+mn-cs"/>
              </a:rPr>
              <a:t> 结束</a:t>
            </a:r>
            <a:endParaRPr kumimoji="0" lang="zh-CN" altLang="en-US" sz="4000" kern="1200" cap="none" spc="0" normalizeH="0" baseline="0" noProof="0" dirty="0">
              <a:solidFill>
                <a:schemeClr val="bg1"/>
              </a:solidFill>
              <a:latin typeface="黑体" pitchFamily="49" charset="-122"/>
              <a:ea typeface="黑体" pitchFamily="49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1642</Words>
  <Application>WPS 文字</Application>
  <PresentationFormat>在屏幕上显示</PresentationFormat>
  <Paragraphs>170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方正书宋_GBK</vt:lpstr>
      <vt:lpstr>Wingdings</vt:lpstr>
      <vt:lpstr>宋体</vt:lpstr>
      <vt:lpstr>汉仪书宋二KW</vt:lpstr>
      <vt:lpstr>Heiti SC Medium</vt:lpstr>
      <vt:lpstr>黑体</vt:lpstr>
      <vt:lpstr>汉仪中黑KW</vt:lpstr>
      <vt:lpstr>微软雅黑</vt:lpstr>
      <vt:lpstr>汉仪旗黑</vt:lpstr>
      <vt:lpstr>宋体</vt:lpstr>
      <vt:lpstr>Arial Unicode MS</vt:lpstr>
      <vt:lpstr>Calibri</vt:lpstr>
      <vt:lpstr>Helvetica Neue</vt:lpstr>
      <vt:lpstr>默认设计模板</vt:lpstr>
      <vt:lpstr>数字证书验证工具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xiaojin</cp:lastModifiedBy>
  <cp:revision>22</cp:revision>
  <dcterms:created xsi:type="dcterms:W3CDTF">2021-11-04T14:46:58Z</dcterms:created>
  <dcterms:modified xsi:type="dcterms:W3CDTF">2021-11-04T14:46:58Z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2052-3.1.0.4945</vt:lpwstr>
  </property>
</Properties>
</file>